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14232" y="-1371600"/>
            <a:ext cx="5029200" cy="5029200"/>
          </a:xfrm>
          <a:prstGeom prst="ellipse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77272" y="2286000"/>
            <a:ext cx="2743200" cy="274320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73152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4864" cy="292608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AI-Powered Test
Automation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BCF2"/>
                </a:solidFill>
              </a:rPr>
              <a:t>An Intelligent Migration Agentic Tool for QA Automation Teams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297680"/>
            <a:ext cx="237744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976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Hackathon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4297680"/>
            <a:ext cx="2560320" cy="384048"/>
          </a:xfrm>
          <a:prstGeom prst="rect">
            <a:avLst/>
          </a:prstGeom>
          <a:solidFill>
            <a:srgbClr val="13273F"/>
          </a:solidFill>
          <a:ln w="127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4297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CF2"/>
                </a:solidFill>
              </a:rPr>
              <a:t>  Claude Haiku + Sonnet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035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E"/>
                </a:solidFill>
              </a:rPr>
              <a:t>Presenter: [Your Name]  |  Team: [Your Team]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23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CF2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CF2"/>
                </a:solidFill>
              </a:rPr>
              <a:t>Why do QA teams struggle with legacy automation?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CF2"/>
                </a:solidFill>
              </a:rPr>
              <a:t>2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383280" cy="3657600"/>
          </a:xfrm>
          <a:prstGeom prst="rect">
            <a:avLst/>
          </a:prstGeom>
          <a:solidFill>
            <a:srgbClr val="13273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64208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CF2"/>
                </a:solidFill>
              </a:rPr>
              <a:t>⏱  Time &amp;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29968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E"/>
                </a:solidFill>
              </a:rPr>
              <a:t>  Manual migration takes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377440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E"/>
                </a:solidFill>
              </a:rPr>
              <a:t>  High risk of human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724912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E"/>
                </a:solidFill>
              </a:rPr>
              <a:t>  Expensive QA hours wasted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96512" y="1554480"/>
            <a:ext cx="3383280" cy="3657600"/>
          </a:xfrm>
          <a:prstGeom prst="rect">
            <a:avLst/>
          </a:prstGeom>
          <a:solidFill>
            <a:srgbClr val="13273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664208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CF2"/>
                </a:solidFill>
              </a:rPr>
              <a:t>🔧  Tech Debt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2029968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E"/>
                </a:solidFill>
              </a:rPr>
              <a:t>  Outdated Selenium/WebDriver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377440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E"/>
                </a:solidFill>
              </a:rPr>
              <a:t>  No modern selector strategies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724912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E"/>
                </a:solidFill>
              </a:rPr>
              <a:t>  Brittle, hard-to-maintain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35824" y="1554480"/>
            <a:ext cx="3383280" cy="3657600"/>
          </a:xfrm>
          <a:prstGeom prst="rect">
            <a:avLst/>
          </a:prstGeom>
          <a:solidFill>
            <a:srgbClr val="13273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0416" y="1664208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CF2"/>
                </a:solidFill>
              </a:rPr>
              <a:t>🔀 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029968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E"/>
                </a:solidFill>
              </a:rPr>
              <a:t>  Multiple source frameworks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377440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E"/>
                </a:solidFill>
              </a:rPr>
              <a:t>  Varied coding patterns (POM, BDD)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724912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E"/>
                </a:solidFill>
              </a:rPr>
              <a:t>  No CI/CD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47120" cy="8046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  On average, manual migration of 100 test files takes 3–6 WEEKS and introduces 30%+ regressions.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CF2"/>
                </a:solidFill>
              </a:rPr>
              <a:t>The Migration Agentic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CF2"/>
                </a:solidFill>
              </a:rPr>
              <a:t>3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solidFill>
            <a:srgbClr val="13273F"/>
          </a:solidFill>
          <a:ln w="1905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10881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CF2"/>
                </a:solidFill>
              </a:rPr>
              <a:t>Upload legacy tests → Get fully migrated Playwright suites in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20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74320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Supports Cypress, Selenium, Robot Framework, WebdriverIO as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73552"/>
            <a:ext cx="320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273552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Migrates to Playwright in TypeScript, JavaScript, Java, or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03904"/>
            <a:ext cx="320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803904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Self-healing selectors automatically generated for every test locator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34256"/>
            <a:ext cx="320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334256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CI/CD pipeline config (Azure DevOps, GitLab, Jenkins) auto-generated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64608"/>
            <a:ext cx="320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864608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Real-time per-file progress dashboard with live WebSocket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320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39496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AI confidence scoring — auto-escalates to higher model if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CF2"/>
                </a:solidFill>
              </a:rPr>
              <a:t>What makes this tool powerful?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CF2"/>
                </a:solidFill>
              </a:rPr>
              <a:t>4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394960" cy="1874519"/>
          </a:xfrm>
          <a:prstGeom prst="rect">
            <a:avLst/>
          </a:prstGeom>
          <a:solidFill>
            <a:srgbClr val="13273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819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8D4"/>
                </a:solidFill>
              </a:rPr>
              <a:t>🤖  AI Code 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8424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Claude Haiku 4.5 (fast, cost-effective)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1343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Claude Sonnet 4.6 (high-accuracy fallback)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64261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Zero hallucination via structured prompts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508760"/>
            <a:ext cx="5394960" cy="1874519"/>
          </a:xfrm>
          <a:prstGeom prst="rect">
            <a:avLst/>
          </a:prstGeom>
          <a:solidFill>
            <a:srgbClr val="13273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819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🔧  Self-Healing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198424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6 fallback selector strategies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231343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data-testid → ARIA → CSS → XPath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64261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Inline [SELF-HEAL] annotations in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394960" cy="1874519"/>
          </a:xfrm>
          <a:prstGeom prst="rect">
            <a:avLst/>
          </a:prstGeom>
          <a:solidFill>
            <a:srgbClr val="13273F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2219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900"/>
                </a:solidFill>
              </a:rPr>
              <a:t>⚙️  CI/CD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224527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Azure Pipelines, GitLab CI, Jenkinsfile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553711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Coverage thresholds enforced (90% / 85%)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882895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Ready-to-commit pipeline configs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749039"/>
            <a:ext cx="5394960" cy="1874519"/>
          </a:xfrm>
          <a:prstGeom prst="rect">
            <a:avLst/>
          </a:prstGeom>
          <a:solidFill>
            <a:srgbClr val="13273F"/>
          </a:solidFill>
          <a:ln w="254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82219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F2"/>
                </a:solidFill>
              </a:rPr>
              <a:t>📊  Live Progress Tracker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4224527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WebSocket real-time updates per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4553711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7-step progress with status badges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4882895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• Amber → Green → Red status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CF2"/>
                </a:solidFill>
              </a:rPr>
              <a:t>Modern, scalable, production-grade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CF2"/>
                </a:solidFill>
              </a:rPr>
              <a:t>5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72768"/>
            <a:ext cx="2651760" cy="4069080"/>
          </a:xfrm>
          <a:prstGeom prst="rect">
            <a:avLst/>
          </a:prstGeom>
          <a:solidFill>
            <a:srgbClr val="13273F"/>
          </a:solidFill>
          <a:ln w="254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572768"/>
            <a:ext cx="2651760" cy="41148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 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75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React 18  +  TypeScript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Vite 5  (build tool)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706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Tailwind CSS  +  shadcn/ui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18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Zustand (state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655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Axios  +  WebSocket (native)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572768"/>
            <a:ext cx="2651760" cy="4069080"/>
          </a:xfrm>
          <a:prstGeom prst="rect">
            <a:avLst/>
          </a:prstGeom>
          <a:solidFill>
            <a:srgbClr val="13273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572768"/>
            <a:ext cx="2651760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6002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 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075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Node.js 20  + 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TypeScript 5  (strict)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7706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Multer  (file uploads)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118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Bull  +  Redis  (job queue)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4655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Handlebars  (CI/CD templates)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572768"/>
            <a:ext cx="2651760" cy="4069080"/>
          </a:xfrm>
          <a:prstGeom prst="rect">
            <a:avLst/>
          </a:prstGeom>
          <a:solidFill>
            <a:srgbClr val="13273F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572768"/>
            <a:ext cx="2651760" cy="41148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6002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  AI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075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Claude Haiku 4.5  (0.33x cost)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Claude Sonnet 4.6  (1x — fallback)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7706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Anthropic Node.js SDK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118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Confidence scoring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4655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Zod validation on all inputs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1572768"/>
            <a:ext cx="2651760" cy="4069080"/>
          </a:xfrm>
          <a:prstGeom prst="rect">
            <a:avLst/>
          </a:prstGeom>
          <a:solidFill>
            <a:srgbClr val="13273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1572768"/>
            <a:ext cx="26517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16002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 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075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Istanbul / nyc  (TS / JS)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JaCoCo  (Java)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7706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Coverage.py  (Python)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118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90% line / 85% branch enforced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4655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  Cobertura XML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CF2"/>
                </a:solidFill>
              </a:rPr>
              <a:t>End-to-end data flow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CF2"/>
                </a:solidFill>
              </a:rPr>
              <a:t>6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2194560" cy="1371600"/>
          </a:xfrm>
          <a:prstGeom prst="rect">
            <a:avLst/>
          </a:prstGeom>
          <a:solidFill>
            <a:srgbClr val="13273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7744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8D4"/>
                </a:solidFill>
              </a:rPr>
              <a:t>USER
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</a:rPr>
              <a:t>React SPA
WebSocket 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286000"/>
            <a:ext cx="2377440" cy="1371600"/>
          </a:xfrm>
          <a:prstGeom prst="rect">
            <a:avLst/>
          </a:prstGeom>
          <a:solidFill>
            <a:srgbClr val="13273F"/>
          </a:solidFill>
          <a:ln w="254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3774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CF2"/>
                </a:solidFill>
              </a:rPr>
              <a:t>BACKEND
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80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</a:rPr>
              <a:t>REST Routes
Zod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377440" cy="1371600"/>
          </a:xfrm>
          <a:prstGeom prst="rect">
            <a:avLst/>
          </a:prstGeom>
          <a:solidFill>
            <a:srgbClr val="13273F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B900"/>
                </a:solidFill>
              </a:rPr>
              <a:t>MIGRATION
ORCHESTRATOR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80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</a:rPr>
              <a:t>7-Step Pipeline
Bull Queue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2286000"/>
            <a:ext cx="2377440" cy="1371600"/>
          </a:xfrm>
          <a:prstGeom prst="rect">
            <a:avLst/>
          </a:prstGeom>
          <a:solidFill>
            <a:srgbClr val="13273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3774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AI MODELS
(Anthropic)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880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</a:rPr>
              <a:t>Haiku → Sonnet
Fallback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4572000"/>
            <a:ext cx="2377440" cy="1188720"/>
          </a:xfrm>
          <a:prstGeom prst="rect">
            <a:avLst/>
          </a:prstGeom>
          <a:solidFill>
            <a:srgbClr val="13273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46634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</a:rPr>
              <a:t>REDIS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166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</a:rPr>
              <a:t>Bull job per batch
Async processing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2377440" cy="1188720"/>
          </a:xfrm>
          <a:prstGeom prst="rect">
            <a:avLst/>
          </a:prstGeom>
          <a:solidFill>
            <a:srgbClr val="13273F"/>
          </a:solidFill>
          <a:ln w="25400">
            <a:solidFill>
              <a:srgbClr val="794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6634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940D4"/>
                </a:solidFill>
              </a:rPr>
              <a:t>CI/CD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166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</a:rPr>
              <a:t>Azure / GitLab
Jenkins YAMLs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4572000"/>
            <a:ext cx="2377440" cy="1188720"/>
          </a:xfrm>
          <a:prstGeom prst="rect">
            <a:avLst/>
          </a:prstGeom>
          <a:solidFill>
            <a:srgbClr val="13273F"/>
          </a:solidFill>
          <a:ln w="25400">
            <a:solidFill>
              <a:srgbClr val="0F9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46634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966B"/>
                </a:solidFill>
              </a:rPr>
              <a:t>COVERAGE
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5166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0FE"/>
                </a:solidFill>
              </a:rPr>
              <a:t>Istanbul / JaCoCo
Coverage.py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42032" y="2944368"/>
            <a:ext cx="685800" cy="36576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42032" y="27249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CF2"/>
                </a:solidFill>
              </a:rPr>
              <a:t>REST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50992" y="2944368"/>
            <a:ext cx="548640" cy="36576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27249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CF2"/>
                </a:solidFill>
              </a:rPr>
              <a:t>Queue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22792" y="2944368"/>
            <a:ext cx="548640" cy="36576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2792" y="27249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CF2"/>
                </a:solidFill>
              </a:rPr>
              <a:t>LLM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900"/>
                </a:solidFill>
              </a:rPr>
              <a:t>⬅  WebSocket real-time progress events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3675887"/>
            <a:ext cx="36576" cy="87782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06640" y="3675887"/>
            <a:ext cx="36576" cy="87782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78440" y="3675887"/>
            <a:ext cx="36576" cy="87782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 Agent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CF2"/>
                </a:solidFill>
              </a:rPr>
              <a:t>7-Step Migration Orchestration + Confidence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CF2"/>
                </a:solidFill>
              </a:rPr>
              <a:t>7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1463040" cy="2011680"/>
          </a:xfrm>
          <a:prstGeom prst="rect">
            <a:avLst/>
          </a:prstGeom>
          <a:solidFill>
            <a:srgbClr val="13273F"/>
          </a:solidFill>
          <a:ln w="254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490472"/>
            <a:ext cx="457200" cy="45720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9961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830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CF2"/>
                </a:solidFill>
              </a:rPr>
              <a:t>Framework
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5146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E"/>
                </a:solidFill>
              </a:rPr>
              <a:t>Identifies Cypress,
Selenium, Robot…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2377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3100" y="1691640"/>
            <a:ext cx="1463040" cy="2011680"/>
          </a:xfrm>
          <a:prstGeom prst="rect">
            <a:avLst/>
          </a:prstGeom>
          <a:solidFill>
            <a:srgbClr val="13273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46020" y="1490472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6020" y="149961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8820" y="17830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Pattern
Identifier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6252" y="25146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E"/>
                </a:solidFill>
              </a:rPr>
              <a:t>POM / BDD / Mocha
Page Factory…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3572" y="2377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1691640"/>
            <a:ext cx="1463040" cy="2011680"/>
          </a:xfrm>
          <a:prstGeom prst="rect">
            <a:avLst/>
          </a:prstGeom>
          <a:solidFill>
            <a:srgbClr val="13273F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14800" y="1490472"/>
            <a:ext cx="457200" cy="45720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149961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17830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900"/>
                </a:solidFill>
              </a:rPr>
              <a:t>Code
Transformer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25146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E"/>
                </a:solidFill>
              </a:rPr>
              <a:t>LLM converts code
Haiku → Sonnet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2377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80660" y="1691640"/>
            <a:ext cx="1463040" cy="2011680"/>
          </a:xfrm>
          <a:prstGeom prst="rect">
            <a:avLst/>
          </a:prstGeom>
          <a:solidFill>
            <a:srgbClr val="13273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83580" y="149047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83580" y="149961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6380" y="17830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Self-Healing
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53812" y="25146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E"/>
                </a:solidFill>
              </a:rPr>
              <a:t>6-strategy fallback
selectors written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1132" y="2377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1691640"/>
            <a:ext cx="1463040" cy="2011680"/>
          </a:xfrm>
          <a:prstGeom prst="rect">
            <a:avLst/>
          </a:prstGeom>
          <a:solidFill>
            <a:srgbClr val="13273F"/>
          </a:solidFill>
          <a:ln w="25400">
            <a:solidFill>
              <a:srgbClr val="794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52360" y="1490472"/>
            <a:ext cx="457200" cy="457200"/>
          </a:xfrm>
          <a:prstGeom prst="ellipse">
            <a:avLst/>
          </a:prstGeom>
          <a:solidFill>
            <a:srgbClr val="794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149961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17830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940D4"/>
                </a:solidFill>
              </a:rPr>
              <a:t>CI/CD
Generator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25146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E"/>
                </a:solidFill>
              </a:rPr>
              <a:t>YAML config
generated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2" y="2377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18220" y="1691640"/>
            <a:ext cx="1463040" cy="2011680"/>
          </a:xfrm>
          <a:prstGeom prst="rect">
            <a:avLst/>
          </a:prstGeom>
          <a:solidFill>
            <a:srgbClr val="13273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21140" y="1490472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21140" y="149961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63940" y="17830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Coverage
Analyzer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91372" y="25146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E"/>
                </a:solidFill>
              </a:rPr>
              <a:t>90%/85% threshold
enforced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8692" y="2377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CF2"/>
                </a:solidFill>
              </a:rPr>
              <a:t>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87000" y="1691640"/>
            <a:ext cx="1463040" cy="2011680"/>
          </a:xfrm>
          <a:prstGeom prst="rect">
            <a:avLst/>
          </a:prstGeom>
          <a:solidFill>
            <a:srgbClr val="13273F"/>
          </a:solidFill>
          <a:ln w="254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89920" y="1490472"/>
            <a:ext cx="457200" cy="45720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89920" y="149961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17830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CF2"/>
                </a:solidFill>
              </a:rPr>
              <a:t>Verifier &amp;
Scorer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0152" y="2514600"/>
            <a:ext cx="1325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0FE"/>
                </a:solidFill>
              </a:rPr>
              <a:t>Final syntax check
≥ 85% confidence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023360"/>
            <a:ext cx="11640312" cy="2286000"/>
          </a:xfrm>
          <a:prstGeom prst="rect">
            <a:avLst/>
          </a:prstGeom>
          <a:solidFill>
            <a:srgbClr val="13273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1148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900"/>
                </a:solidFill>
              </a:rPr>
              <a:t>⚡  Confidence Routing Logic (Step 3)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572000"/>
            <a:ext cx="137160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581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  Score ≥ 85%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5960" y="457200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Haiku output accepted &amp; pipeline continues automatically.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983480"/>
            <a:ext cx="1371600" cy="29260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992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  Score &lt; 85%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65960" y="49834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Auto-escalates to Claude Sonnet 4.6 for higher accuracy.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394960"/>
            <a:ext cx="137160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404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  Both &lt; 85%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65960" y="53949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HALT — File flagged for mandatory human review. No auto-commit.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3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Live Demo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CF2"/>
                </a:solidFill>
              </a:rPr>
              <a:t>End-to-end migration in one clean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CF2"/>
                </a:solidFill>
              </a:rPr>
              <a:t>8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72768"/>
            <a:ext cx="3566160" cy="1463040"/>
          </a:xfrm>
          <a:prstGeom prst="rect">
            <a:avLst/>
          </a:prstGeom>
          <a:solidFill>
            <a:srgbClr val="13273F"/>
          </a:solidFill>
          <a:ln w="254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420624" cy="146304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0756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682496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F2"/>
                </a:solidFill>
              </a:rP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6712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Drag &amp; drop a .zip of legacy tests onto the Upload page.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572768"/>
            <a:ext cx="3566160" cy="1463040"/>
          </a:xfrm>
          <a:prstGeom prst="rect">
            <a:avLst/>
          </a:prstGeom>
          <a:solidFill>
            <a:srgbClr val="13273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572768"/>
            <a:ext cx="420624" cy="1463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2232" y="20756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682496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8D4"/>
                </a:solidFill>
              </a:rPr>
              <a:t>Configure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16712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Select source framework, target language &amp; CI/CD platform.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1572768"/>
            <a:ext cx="3566160" cy="1463040"/>
          </a:xfrm>
          <a:prstGeom prst="rect">
            <a:avLst/>
          </a:prstGeom>
          <a:solidFill>
            <a:srgbClr val="13273F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1572768"/>
            <a:ext cx="420624" cy="14630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20756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1682496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900"/>
                </a:solidFill>
              </a:rPr>
              <a:t>Migrate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216712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Click 'Migrate' — the backend queues and processes all files.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00400"/>
            <a:ext cx="3566160" cy="1463040"/>
          </a:xfrm>
          <a:prstGeom prst="rect">
            <a:avLst/>
          </a:prstGeom>
          <a:solidFill>
            <a:srgbClr val="13273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200400"/>
            <a:ext cx="420624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703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3310128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" y="3794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Watch the Progress Dashboard — live status for each file.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200400"/>
            <a:ext cx="3566160" cy="1463040"/>
          </a:xfrm>
          <a:prstGeom prst="rect">
            <a:avLst/>
          </a:prstGeom>
          <a:solidFill>
            <a:srgbClr val="13273F"/>
          </a:solidFill>
          <a:ln w="254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3200400"/>
            <a:ext cx="420624" cy="146304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2232" y="3703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3310128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CF2"/>
                </a:solidFill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3794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Inspect migrated code, [SELF-HEAL] annotations &amp; CI/CD YAML.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3200400"/>
            <a:ext cx="3566160" cy="1463040"/>
          </a:xfrm>
          <a:prstGeom prst="rect">
            <a:avLst/>
          </a:prstGeom>
          <a:solidFill>
            <a:srgbClr val="13273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09560" y="3200400"/>
            <a:ext cx="420624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36992" y="3703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3310128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C2626"/>
                </a:solidFill>
              </a:rPr>
              <a:t>Download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3794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Click Download to get the full migrated project as a ZIP.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892040"/>
            <a:ext cx="11548872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956048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💡  Demo Tip: Upload a Cypress .spec.ts file as the ZIP and show the full output including GitLab CI/CD pipeline config.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0152" y="-914400"/>
            <a:ext cx="3657600" cy="3657600"/>
          </a:xfrm>
          <a:prstGeom prst="ellipse">
            <a:avLst/>
          </a:prstGeom>
          <a:solidFill>
            <a:srgbClr val="00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13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73152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54864" cy="41148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00BCF2"/>
                </a:solidFill>
              </a:rPr>
              <a:t>Questions &amp; 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34640"/>
            <a:ext cx="2606040" cy="822960"/>
          </a:xfrm>
          <a:prstGeom prst="rect">
            <a:avLst/>
          </a:prstGeom>
          <a:solidFill>
            <a:srgbClr val="13273F"/>
          </a:solidFill>
          <a:ln w="1905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F2"/>
                </a:solidFill>
              </a:rPr>
              <a:t>Migrates Legacy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Cypress, Selenium, Robot → Playwright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834640"/>
            <a:ext cx="2606040" cy="822960"/>
          </a:xfrm>
          <a:prstGeom prst="rect">
            <a:avLst/>
          </a:prstGeom>
          <a:solidFill>
            <a:srgbClr val="13273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8620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Self-Healing Selectors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004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6-strategy fallback chains, zero TODOs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834640"/>
            <a:ext cx="2606040" cy="822960"/>
          </a:xfrm>
          <a:prstGeom prst="rect">
            <a:avLst/>
          </a:prstGeom>
          <a:solidFill>
            <a:srgbClr val="13273F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8620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900"/>
                </a:solidFill>
              </a:rPr>
              <a:t>AI Confidence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004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Haiku fast-path, Sonnet accuracy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834640"/>
            <a:ext cx="2606040" cy="822960"/>
          </a:xfrm>
          <a:prstGeom prst="rect">
            <a:avLst/>
          </a:prstGeom>
          <a:solidFill>
            <a:srgbClr val="13273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8620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Full CI/CD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20040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E"/>
                </a:solidFill>
              </a:rPr>
              <a:t>Azure, GitLab, Jenkins configs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989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0FE"/>
                </a:solidFill>
              </a:rPr>
              <a:t>GitHub / Contact:  [Your GitHub URL]  |  Team:  [Your Team Name]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023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CF2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